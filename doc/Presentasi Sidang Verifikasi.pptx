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63" r:id="rId12"/>
    <p:sldId id="264" r:id="rId13"/>
    <p:sldId id="268" r:id="rId14"/>
    <p:sldId id="269" r:id="rId15"/>
    <p:sldId id="270" r:id="rId16"/>
    <p:sldId id="271" r:id="rId17"/>
    <p:sldId id="273" r:id="rId18"/>
    <p:sldId id="272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85" autoAdjust="0"/>
    <p:restoredTop sz="94660"/>
  </p:normalViewPr>
  <p:slideViewPr>
    <p:cSldViewPr snapToGrid="0">
      <p:cViewPr varScale="1">
        <p:scale>
          <a:sx n="74" d="100"/>
          <a:sy n="74" d="100"/>
        </p:scale>
        <p:origin x="6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11/26/2016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11/26/2016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11/26/2016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11/26/2016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11/26/2016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11/26/2016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11/26/2016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11/26/2016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journals.itb.ac.id/" TargetMode="External"/><Relationship Id="rId2" Type="http://schemas.openxmlformats.org/officeDocument/2006/relationships/hyperlink" Target="http://journal.ui.ac.id/technology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researchpublish.com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d-ID" sz="4400" dirty="0" smtClean="0"/>
              <a:t>Penerapan </a:t>
            </a:r>
            <a:r>
              <a:rPr lang="id-ID" sz="4400" i="1" dirty="0" smtClean="0"/>
              <a:t>Resource Oriented Architecture Untuk Pendistribusian Data Menggunakan RESTful APIs Berbasis Multiplatform</a:t>
            </a:r>
            <a:endParaRPr lang="id-ID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id-ID" dirty="0" smtClean="0"/>
              <a:t>Oleh Yanuar Nurcahyo, 1512018, teknik informatika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96497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Latar Belakang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Pendistribusian data journal di universitas</a:t>
            </a:r>
          </a:p>
          <a:p>
            <a:r>
              <a:rPr lang="id-ID" dirty="0" smtClean="0"/>
              <a:t>Berbagai jenis platform pada masa kini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63744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Masalah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Berdasarkan latar belakang tersebut maka dapat diidentifikasikan permasalahannya, yaitu:</a:t>
            </a:r>
          </a:p>
          <a:p>
            <a:pPr marL="800100" lvl="1" indent="-342900">
              <a:buFont typeface="+mj-lt"/>
              <a:buAutoNum type="arabicPeriod"/>
            </a:pPr>
            <a:r>
              <a:rPr lang="id-ID" dirty="0"/>
              <a:t>Perpustakaan yang memiliki journal tidak menggunakan konsep </a:t>
            </a:r>
            <a:r>
              <a:rPr lang="id-ID" dirty="0" smtClean="0"/>
              <a:t>ROA</a:t>
            </a:r>
          </a:p>
          <a:p>
            <a:pPr marL="800100" lvl="1" indent="-342900">
              <a:buFont typeface="+mj-lt"/>
              <a:buAutoNum type="arabicPeriod"/>
            </a:pPr>
            <a:r>
              <a:rPr lang="id-ID" dirty="0"/>
              <a:t>Sistem journal masih konvensional</a:t>
            </a:r>
            <a:r>
              <a:rPr lang="id-ID" dirty="0" smtClean="0"/>
              <a:t>.</a:t>
            </a:r>
          </a:p>
          <a:p>
            <a:pPr marL="800100" lvl="1" indent="-342900">
              <a:buFont typeface="+mj-lt"/>
              <a:buAutoNum type="arabicPeriod"/>
            </a:pPr>
            <a:r>
              <a:rPr lang="id-ID" dirty="0"/>
              <a:t>Belum ada sistem pendistribusian data yang bersifat multiplatform</a:t>
            </a:r>
          </a:p>
        </p:txBody>
      </p:sp>
    </p:spTree>
    <p:extLst>
      <p:ext uri="{BB962C8B-B14F-4D97-AF65-F5344CB8AC3E}">
        <p14:creationId xmlns:p14="http://schemas.microsoft.com/office/powerpoint/2010/main" val="3868607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Maksud dan Tujuan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Maksud</a:t>
            </a:r>
          </a:p>
          <a:p>
            <a:pPr lvl="1"/>
            <a:r>
              <a:rPr lang="id-ID" dirty="0"/>
              <a:t>Menerapkan metode Resource Oriented Architecture  menggunakan RESTful API pada web </a:t>
            </a:r>
            <a:r>
              <a:rPr lang="id-ID" dirty="0" smtClean="0"/>
              <a:t>service </a:t>
            </a:r>
            <a:r>
              <a:rPr lang="id-ID" dirty="0"/>
              <a:t>berbasis multiplatform</a:t>
            </a:r>
            <a:endParaRPr lang="id-ID" dirty="0" smtClean="0"/>
          </a:p>
          <a:p>
            <a:r>
              <a:rPr lang="id-ID" dirty="0" smtClean="0"/>
              <a:t>Tujuan</a:t>
            </a:r>
          </a:p>
          <a:p>
            <a:pPr lvl="1"/>
            <a:r>
              <a:rPr lang="id-ID" dirty="0"/>
              <a:t>memberikan suatu solusi untuk pendistribusian data yang bersifat multiplatform diterapkan di </a:t>
            </a:r>
            <a:r>
              <a:rPr lang="id-ID" dirty="0" smtClean="0"/>
              <a:t>sistem </a:t>
            </a:r>
            <a:r>
              <a:rPr lang="id-ID" dirty="0"/>
              <a:t>perpustakaan. Serta meninjau platform </a:t>
            </a:r>
            <a:r>
              <a:rPr lang="id-ID" dirty="0" smtClean="0"/>
              <a:t>mana </a:t>
            </a:r>
            <a:r>
              <a:rPr lang="id-ID" dirty="0"/>
              <a:t>yang cocok digunakan untuk data </a:t>
            </a:r>
            <a:r>
              <a:rPr lang="id-ID" dirty="0" smtClean="0"/>
              <a:t>terdistribusi.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753893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Guna dan Manfaat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Kegunaan</a:t>
            </a:r>
          </a:p>
          <a:p>
            <a:pPr lvl="1"/>
            <a:r>
              <a:rPr lang="id-ID" dirty="0"/>
              <a:t>Kegunaan  penelitian  ini  adalah  untuk  dapat  mendistribusikan  data  journal  ke  perpustkaan </a:t>
            </a:r>
            <a:r>
              <a:rPr lang="id-ID" dirty="0" smtClean="0"/>
              <a:t>universitas </a:t>
            </a:r>
            <a:r>
              <a:rPr lang="id-ID" dirty="0"/>
              <a:t>dengan berbagai multiplatform.</a:t>
            </a:r>
            <a:endParaRPr lang="id-ID" dirty="0" smtClean="0"/>
          </a:p>
          <a:p>
            <a:r>
              <a:rPr lang="id-ID" dirty="0" smtClean="0"/>
              <a:t>Manfaat</a:t>
            </a:r>
          </a:p>
          <a:p>
            <a:pPr lvl="1"/>
            <a:r>
              <a:rPr lang="id-ID" dirty="0" smtClean="0"/>
              <a:t>Teoritis</a:t>
            </a:r>
          </a:p>
          <a:p>
            <a:pPr marL="914400" lvl="2" indent="0">
              <a:buNone/>
            </a:pPr>
            <a:r>
              <a:rPr lang="id-ID" dirty="0"/>
              <a:t>melanjutkan  penelitian  sebelumnya  dan  memberikan </a:t>
            </a:r>
            <a:r>
              <a:rPr lang="id-ID" dirty="0" smtClean="0"/>
              <a:t>sumbangan  </a:t>
            </a:r>
            <a:r>
              <a:rPr lang="id-ID" dirty="0"/>
              <a:t>terhadap  IPTEK  khususnya  untuk  membuktikan  Resource  Oriented </a:t>
            </a:r>
            <a:r>
              <a:rPr lang="id-ID" dirty="0" smtClean="0"/>
              <a:t>Architecture  </a:t>
            </a:r>
            <a:r>
              <a:rPr lang="id-ID" dirty="0"/>
              <a:t>dapat  digunakan  untuk  pendistribusian  </a:t>
            </a:r>
            <a:r>
              <a:rPr lang="id-ID" dirty="0" smtClean="0"/>
              <a:t>data.</a:t>
            </a:r>
          </a:p>
          <a:p>
            <a:pPr lvl="1"/>
            <a:r>
              <a:rPr lang="id-ID" dirty="0" smtClean="0"/>
              <a:t>Praktis</a:t>
            </a:r>
          </a:p>
          <a:p>
            <a:pPr marL="914400" lvl="2" indent="0">
              <a:buNone/>
            </a:pPr>
            <a:r>
              <a:rPr lang="id-ID" dirty="0"/>
              <a:t> untuk  memudahkan  pendistribusian  data </a:t>
            </a:r>
            <a:r>
              <a:rPr lang="id-ID" dirty="0" smtClean="0"/>
              <a:t>journal </a:t>
            </a:r>
            <a:r>
              <a:rPr lang="id-ID" dirty="0"/>
              <a:t>dari berbagai universitas secara efektif dan efisien. </a:t>
            </a:r>
          </a:p>
        </p:txBody>
      </p:sp>
    </p:spTree>
    <p:extLst>
      <p:ext uri="{BB962C8B-B14F-4D97-AF65-F5344CB8AC3E}">
        <p14:creationId xmlns:p14="http://schemas.microsoft.com/office/powerpoint/2010/main" val="374930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Ruang Linkup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Adapun keterbatasan dari penerapan ini </a:t>
            </a:r>
            <a:r>
              <a:rPr lang="fi-FI" dirty="0" smtClean="0"/>
              <a:t>adalah</a:t>
            </a:r>
            <a:endParaRPr lang="id-ID" dirty="0" smtClean="0"/>
          </a:p>
          <a:p>
            <a:pPr lvl="1"/>
            <a:r>
              <a:rPr lang="id-ID" dirty="0"/>
              <a:t> Pengumpulan  data  journal  yang  disediakan  hanya  didapatkan  dari  website.  Misalnya  seperti </a:t>
            </a:r>
            <a:r>
              <a:rPr lang="id-ID" dirty="0" smtClean="0">
                <a:hlinkClick r:id="rId2"/>
              </a:rPr>
              <a:t>http</a:t>
            </a:r>
            <a:r>
              <a:rPr lang="id-ID" dirty="0">
                <a:hlinkClick r:id="rId2"/>
              </a:rPr>
              <a:t>://</a:t>
            </a:r>
            <a:r>
              <a:rPr lang="id-ID" dirty="0" smtClean="0">
                <a:hlinkClick r:id="rId2"/>
              </a:rPr>
              <a:t>journal.ui.ac.id/technology</a:t>
            </a:r>
            <a:r>
              <a:rPr lang="id-ID" dirty="0" smtClean="0"/>
              <a:t> , </a:t>
            </a:r>
            <a:r>
              <a:rPr lang="id-ID" dirty="0">
                <a:hlinkClick r:id="rId3"/>
              </a:rPr>
              <a:t>http://</a:t>
            </a:r>
            <a:r>
              <a:rPr lang="id-ID" dirty="0" smtClean="0">
                <a:hlinkClick r:id="rId3"/>
              </a:rPr>
              <a:t>journals.itb.ac.id</a:t>
            </a:r>
            <a:r>
              <a:rPr lang="id-ID" dirty="0" smtClean="0"/>
              <a:t>  </a:t>
            </a:r>
            <a:r>
              <a:rPr lang="id-ID" dirty="0"/>
              <a:t>dan </a:t>
            </a:r>
            <a:r>
              <a:rPr lang="id-ID" dirty="0">
                <a:hlinkClick r:id="rId4"/>
              </a:rPr>
              <a:t>http://</a:t>
            </a:r>
            <a:r>
              <a:rPr lang="id-ID" dirty="0" smtClean="0">
                <a:hlinkClick r:id="rId4"/>
              </a:rPr>
              <a:t>www.researchpublish.com</a:t>
            </a:r>
            <a:endParaRPr lang="id-ID" dirty="0" smtClean="0"/>
          </a:p>
          <a:p>
            <a:pPr lvl="1"/>
            <a:r>
              <a:rPr lang="id-ID" dirty="0"/>
              <a:t>Security  system  harus  sangat  diperhatikan  untuk  menjaga  sebuah  database</a:t>
            </a:r>
          </a:p>
        </p:txBody>
      </p:sp>
    </p:spTree>
    <p:extLst>
      <p:ext uri="{BB962C8B-B14F-4D97-AF65-F5344CB8AC3E}">
        <p14:creationId xmlns:p14="http://schemas.microsoft.com/office/powerpoint/2010/main" val="3703875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Kerangka Pemikiran</a:t>
            </a:r>
            <a:endParaRPr lang="id-ID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238" y="2083594"/>
            <a:ext cx="7353300" cy="4133850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7302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Prosedur Pengembangan</a:t>
            </a:r>
            <a:endParaRPr lang="id-ID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895" y="1416676"/>
            <a:ext cx="7042801" cy="508715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052012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130" y="517112"/>
            <a:ext cx="9404723" cy="1400530"/>
          </a:xfrm>
        </p:spPr>
        <p:txBody>
          <a:bodyPr/>
          <a:lstStyle/>
          <a:p>
            <a:r>
              <a:rPr lang="id-ID" dirty="0" smtClean="0"/>
              <a:t>Uji Analisis Data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Uji analisis data dilakukan untuk mengetahui tujuan penelitian pengembangan yaitu </a:t>
            </a:r>
            <a:r>
              <a:rPr lang="id-ID" dirty="0" smtClean="0"/>
              <a:t>menentukan  </a:t>
            </a:r>
            <a:r>
              <a:rPr lang="id-ID" dirty="0"/>
              <a:t>kecepatan  rata-rata  waktu  antara  platform  dalam  pendistribusian  data </a:t>
            </a:r>
            <a:r>
              <a:rPr lang="id-ID" dirty="0" smtClean="0"/>
              <a:t>menggunakan  </a:t>
            </a:r>
            <a:r>
              <a:rPr lang="id-ID" dirty="0"/>
              <a:t>RESTful.  Variable  yang  diuji  adalah  menggunakan  waktu  antara  platformplatform yang menggunakan HTTP request (GET, POST) dan banyak data yang diberikan.</a:t>
            </a:r>
          </a:p>
        </p:txBody>
      </p:sp>
    </p:spTree>
    <p:extLst>
      <p:ext uri="{BB962C8B-B14F-4D97-AF65-F5344CB8AC3E}">
        <p14:creationId xmlns:p14="http://schemas.microsoft.com/office/powerpoint/2010/main" val="1984257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Table Analisis data</a:t>
            </a:r>
            <a:endParaRPr lang="id-ID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8003" y="2083728"/>
            <a:ext cx="7842831" cy="239812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5" name="Rectangle 4"/>
          <p:cNvSpPr/>
          <p:nvPr/>
        </p:nvSpPr>
        <p:spPr>
          <a:xfrm>
            <a:off x="987381" y="525324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d-ID" dirty="0"/>
              <a:t>Untuk menentukan kecepatan rata-rata yaitu dengan </a:t>
            </a:r>
            <a:r>
              <a:rPr lang="id-ID" dirty="0" smtClean="0"/>
              <a:t>rumus</a:t>
            </a:r>
            <a:endParaRPr lang="id-ID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573" y="5899572"/>
            <a:ext cx="1528798" cy="86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936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Pembahasan</a:t>
            </a:r>
            <a:endParaRPr lang="id-ID" sz="3200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677" y="1557033"/>
            <a:ext cx="8977201" cy="471683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752197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Pembahasan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Resource  </a:t>
            </a:r>
            <a:r>
              <a:rPr lang="id-ID" dirty="0"/>
              <a:t>–  resouce  tersebut  terbentuk  dalam  sebuah  URI  yang  berisi  data  journal  bertipe </a:t>
            </a:r>
          </a:p>
          <a:p>
            <a:r>
              <a:rPr lang="id-ID" dirty="0"/>
              <a:t>JSON. Request URI yang dapat digunakan dan sesuai standar HTTP diantara lain yaitu:</a:t>
            </a:r>
          </a:p>
        </p:txBody>
      </p:sp>
    </p:spTree>
    <p:extLst>
      <p:ext uri="{BB962C8B-B14F-4D97-AF65-F5344CB8AC3E}">
        <p14:creationId xmlns:p14="http://schemas.microsoft.com/office/powerpoint/2010/main" val="1047452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990" y="117867"/>
            <a:ext cx="9404723" cy="1400530"/>
          </a:xfrm>
        </p:spPr>
        <p:txBody>
          <a:bodyPr/>
          <a:lstStyle/>
          <a:p>
            <a:r>
              <a:rPr lang="id-ID" dirty="0" smtClean="0"/>
              <a:t>Pembahasan</a:t>
            </a:r>
            <a:endParaRPr lang="id-ID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9005549"/>
              </p:ext>
            </p:extLst>
          </p:nvPr>
        </p:nvGraphicFramePr>
        <p:xfrm>
          <a:off x="658990" y="972678"/>
          <a:ext cx="10509160" cy="57458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34815"/>
                <a:gridCol w="4059397"/>
                <a:gridCol w="4414948"/>
              </a:tblGrid>
              <a:tr h="24273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effectLst/>
                        </a:rPr>
                        <a:t>Method</a:t>
                      </a:r>
                      <a:endParaRPr lang="id-ID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141" marR="30141" marT="3963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effectLst/>
                        </a:rPr>
                        <a:t>URL</a:t>
                      </a:r>
                      <a:endParaRPr lang="id-ID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141" marR="30141" marT="3963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>
                          <a:effectLst/>
                        </a:rPr>
                        <a:t>Deskripsi</a:t>
                      </a:r>
                      <a:endParaRPr lang="id-ID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141" marR="30141" marT="39630" marB="0" anchor="ctr"/>
                </a:tc>
              </a:tr>
              <a:tr h="86335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effectLst/>
                        </a:rPr>
                        <a:t>GET</a:t>
                      </a:r>
                      <a:endParaRPr lang="id-ID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141" marR="30141" marT="3963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effectLst/>
                        </a:rPr>
                        <a:t>{{host}}/journals</a:t>
                      </a: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effectLst/>
                        </a:rPr>
                        <a:t>Parameter:</a:t>
                      </a:r>
                    </a:p>
                    <a:p>
                      <a:pPr marL="342900" lvl="0" indent="-342900" algn="l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-"/>
                      </a:pPr>
                      <a:r>
                        <a:rPr lang="id-ID" sz="1000" dirty="0">
                          <a:effectLst/>
                        </a:rPr>
                        <a:t>page (page yang akan digunakan)</a:t>
                      </a:r>
                    </a:p>
                    <a:p>
                      <a:pPr marL="342900" lvl="0" indent="-342900" algn="l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-"/>
                      </a:pPr>
                      <a:r>
                        <a:rPr lang="id-ID" sz="1000" dirty="0">
                          <a:effectLst/>
                        </a:rPr>
                        <a:t>limit (batas data yang akan dikeluarkan)</a:t>
                      </a:r>
                      <a:endParaRPr lang="id-ID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141" marR="30141" marT="39630" marB="0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>
                          <a:effectLst/>
                        </a:rPr>
                        <a:t>Untuk menampilkan seluruh journal</a:t>
                      </a:r>
                      <a:endParaRPr lang="id-ID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141" marR="30141" marT="39630" marB="0"/>
                </a:tc>
              </a:tr>
              <a:tr h="24273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>
                          <a:effectLst/>
                        </a:rPr>
                        <a:t>GET</a:t>
                      </a:r>
                      <a:endParaRPr lang="id-ID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141" marR="30141" marT="3963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effectLst/>
                        </a:rPr>
                        <a:t>{{host}}/journals/search/{{keyword}}</a:t>
                      </a:r>
                      <a:endParaRPr lang="id-ID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141" marR="30141" marT="39630" marB="0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>
                          <a:effectLst/>
                        </a:rPr>
                        <a:t>Untuk pencarian data journal</a:t>
                      </a:r>
                      <a:endParaRPr lang="id-ID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141" marR="30141" marT="39630" marB="0" anchor="b"/>
                </a:tc>
              </a:tr>
              <a:tr h="24273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>
                          <a:effectLst/>
                        </a:rPr>
                        <a:t>GET</a:t>
                      </a:r>
                      <a:endParaRPr lang="id-ID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141" marR="30141" marT="3963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effectLst/>
                        </a:rPr>
                        <a:t>{{host}}/journals/detail/{{id_journal}}</a:t>
                      </a:r>
                      <a:endParaRPr lang="id-ID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141" marR="30141" marT="3963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>
                          <a:effectLst/>
                        </a:rPr>
                        <a:t>Untuk menampilkan detail pada journal</a:t>
                      </a:r>
                      <a:endParaRPr lang="id-ID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141" marR="30141" marT="39630" marB="0" anchor="b"/>
                </a:tc>
              </a:tr>
              <a:tr h="148397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>
                          <a:effectLst/>
                        </a:rPr>
                        <a:t>POST</a:t>
                      </a:r>
                      <a:endParaRPr lang="id-ID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141" marR="30141" marT="3963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effectLst/>
                        </a:rPr>
                        <a:t>{{host}}/journals/add</a:t>
                      </a: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effectLst/>
                        </a:rPr>
                        <a:t> </a:t>
                      </a: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effectLst/>
                        </a:rPr>
                        <a:t>Parameter:</a:t>
                      </a: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effectLst/>
                        </a:rPr>
                        <a:t>title (string), author (string), abstract (text), keywords (string), image (string | url), file (string | url), issn (string), publisher (string), volume (integer), page (integer), number (integer), year (integer), month (integer), day (integer), </a:t>
                      </a:r>
                      <a:endParaRPr lang="id-ID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141" marR="30141" marT="39630" marB="0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effectLst/>
                        </a:rPr>
                        <a:t>Untuk meyimpan data journal</a:t>
                      </a:r>
                      <a:endParaRPr lang="id-ID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141" marR="30141" marT="39630" marB="0"/>
                </a:tc>
              </a:tr>
              <a:tr h="148397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>
                          <a:effectLst/>
                        </a:rPr>
                        <a:t>PUT</a:t>
                      </a:r>
                      <a:endParaRPr lang="id-ID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141" marR="30141" marT="3963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effectLst/>
                        </a:rPr>
                        <a:t>{{host}}/journals/edit/{{id_journal}}</a:t>
                      </a: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effectLst/>
                        </a:rPr>
                        <a:t> </a:t>
                      </a:r>
                      <a:r>
                        <a:rPr lang="id-ID" sz="1000" dirty="0" smtClean="0">
                          <a:effectLst/>
                        </a:rPr>
                        <a:t>Parameter</a:t>
                      </a:r>
                      <a:r>
                        <a:rPr lang="id-ID" sz="1000" dirty="0">
                          <a:effectLst/>
                        </a:rPr>
                        <a:t>:</a:t>
                      </a: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effectLst/>
                        </a:rPr>
                        <a:t>title (string), author (string), abstract (text), keywords (string), image (string | url), file (string | url), issn (string), publisher (string), volume (integer), page (integer), number (integer), year (integer), month (integer), day (integer),</a:t>
                      </a:r>
                      <a:endParaRPr lang="id-ID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141" marR="30141" marT="39630" marB="0" anchor="b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effectLst/>
                        </a:rPr>
                        <a:t>Untuk mengedit data journal</a:t>
                      </a:r>
                      <a:endParaRPr lang="id-ID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141" marR="30141" marT="39630" marB="0"/>
                </a:tc>
              </a:tr>
              <a:tr h="863354">
                <a:tc gridSpan="3"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effectLst/>
                        </a:rPr>
                        <a:t>Keterangan:</a:t>
                      </a: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000" dirty="0">
                          <a:effectLst/>
                        </a:rPr>
                        <a:t>{{host}} adalah variable untuk memasukan hostname pada aplikasi berupa base URL</a:t>
                      </a:r>
                      <a:r>
                        <a:rPr lang="id-ID" sz="1000" dirty="0" smtClean="0">
                          <a:effectLst/>
                        </a:rPr>
                        <a:t>. || {{</a:t>
                      </a:r>
                      <a:r>
                        <a:rPr lang="id-ID" sz="1000" dirty="0">
                          <a:effectLst/>
                        </a:rPr>
                        <a:t>keyword}} adalah variable yang akan di isi sebagai keyword untuk pencarian </a:t>
                      </a:r>
                      <a:r>
                        <a:rPr lang="id-ID" sz="1000" dirty="0" smtClean="0">
                          <a:effectLst/>
                        </a:rPr>
                        <a:t>data || {{</a:t>
                      </a:r>
                      <a:r>
                        <a:rPr lang="id-ID" sz="1000" dirty="0">
                          <a:effectLst/>
                        </a:rPr>
                        <a:t>id_journal}} adalah variable yang berisi ID Journal pada database dengan type data integer|number</a:t>
                      </a:r>
                      <a:endParaRPr lang="id-ID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141" marR="30141" marT="39630" marB="0" anchor="b"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5033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Hasil Pengembangan (PHP)</a:t>
            </a:r>
            <a:endParaRPr lang="id-ID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9794152"/>
              </p:ext>
            </p:extLst>
          </p:nvPr>
        </p:nvGraphicFramePr>
        <p:xfrm>
          <a:off x="772731" y="1478389"/>
          <a:ext cx="10200068" cy="50769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91165"/>
                <a:gridCol w="2694487"/>
                <a:gridCol w="2833856"/>
                <a:gridCol w="1791415"/>
                <a:gridCol w="1789145"/>
              </a:tblGrid>
              <a:tr h="705665"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Method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Name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URI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HTTP Code/Status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Time</a:t>
                      </a:r>
                    </a:p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(data/second)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  <a:tr h="375370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GET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Mengambil semua data journal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{{host}}/journals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200 / Success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100/0.0374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  <a:tr h="375370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GET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Mengambil semua data journal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{{host}}/journals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200 / Success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100/0.0341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  <a:tr h="375370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GET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Mengambil detail journal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{{host}}/detail/50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200 / Success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1/0.0090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  <a:tr h="375370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GET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Mencari data journal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{{host}}/search/univerisity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200 / Success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4/0.0155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  <a:tr h="485469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POST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Menginput data journal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{{host}}/journals/add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200 / Success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1/0.3538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  <a:tr h="485469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POST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Menginput data journal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{{host}}/journals/add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200 / Success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1/0.1509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  <a:tr h="485469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POST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Menginput data journal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{{host}}/journals/add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200 / Success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1/0.1809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  <a:tr h="375370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PUT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Mengedit data journal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{{host}}/journals/edit/112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200 / Success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1/0.0909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  <a:tr h="375370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PUT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Mengedit data journal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{{host}}/journals/edit/111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200 / Success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1/0.0775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  <a:tr h="375370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PUT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Mengedit data journal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{{host}}/journals/edit/66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200 / Success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1/0.0810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  <a:tr h="287293">
                <a:tc gridSpan="4">
                  <a:txBody>
                    <a:bodyPr/>
                    <a:lstStyle/>
                    <a:p>
                      <a:pPr marL="457200" algn="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>
                          <a:effectLst/>
                        </a:rPr>
                        <a:t>Total</a:t>
                      </a:r>
                      <a:endParaRPr lang="id-ID" sz="105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050" dirty="0">
                          <a:effectLst/>
                        </a:rPr>
                        <a:t>211/</a:t>
                      </a:r>
                      <a:r>
                        <a:rPr lang="en-US" sz="1050" dirty="0">
                          <a:effectLst/>
                        </a:rPr>
                        <a:t>1.0310</a:t>
                      </a:r>
                      <a:endParaRPr lang="id-ID" sz="105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4726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Hasil Pengembangan (Python)</a:t>
            </a:r>
            <a:endParaRPr lang="id-ID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8923282"/>
              </p:ext>
            </p:extLst>
          </p:nvPr>
        </p:nvGraphicFramePr>
        <p:xfrm>
          <a:off x="824249" y="1732532"/>
          <a:ext cx="10045519" cy="483568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02166"/>
                <a:gridCol w="2886779"/>
                <a:gridCol w="2724446"/>
                <a:gridCol w="1666064"/>
                <a:gridCol w="1666064"/>
              </a:tblGrid>
              <a:tr h="590247"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Method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Name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URI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HTTP Code/Status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Time</a:t>
                      </a:r>
                    </a:p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(data/second)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</a:tr>
              <a:tr h="313975">
                <a:tc>
                  <a:txBody>
                    <a:bodyPr/>
                    <a:lstStyle/>
                    <a:p>
                      <a:pPr marL="45720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GET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Mengambil semua data journal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{{host}}/journals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200 / Success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100/0.0174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</a:tr>
              <a:tr h="313975">
                <a:tc>
                  <a:txBody>
                    <a:bodyPr/>
                    <a:lstStyle/>
                    <a:p>
                      <a:pPr marL="45720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GET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Mengambil semua data journal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{{host}}/journals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200 / Success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100/0.0024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</a:tr>
              <a:tr h="313975">
                <a:tc>
                  <a:txBody>
                    <a:bodyPr/>
                    <a:lstStyle/>
                    <a:p>
                      <a:pPr marL="45720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GET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Mengambil detail journal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{{host}}/detail/50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200 / Success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1/0.0042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</a:tr>
              <a:tr h="313975">
                <a:tc>
                  <a:txBody>
                    <a:bodyPr/>
                    <a:lstStyle/>
                    <a:p>
                      <a:pPr marL="45720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GET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Mencari data journal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{{host}}/search/univerisity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200 / Success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4/0.0027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</a:tr>
              <a:tr h="518175">
                <a:tc>
                  <a:txBody>
                    <a:bodyPr/>
                    <a:lstStyle/>
                    <a:p>
                      <a:pPr marL="4572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POST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Menginput data journal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{{host}}/journals/add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200 / Success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1/0.0035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</a:tr>
              <a:tr h="518175">
                <a:tc>
                  <a:txBody>
                    <a:bodyPr/>
                    <a:lstStyle/>
                    <a:p>
                      <a:pPr marL="4572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POST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Menginput data journal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{{host}}/journals/add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200 / Success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1/0.0343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</a:tr>
              <a:tr h="518175">
                <a:tc>
                  <a:txBody>
                    <a:bodyPr/>
                    <a:lstStyle/>
                    <a:p>
                      <a:pPr marL="4572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POST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Menginput data journal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{{host}}/journals/add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200 / Success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1/0.0016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</a:tr>
              <a:tr h="398058">
                <a:tc>
                  <a:txBody>
                    <a:bodyPr/>
                    <a:lstStyle/>
                    <a:p>
                      <a:pPr marL="4572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PUT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Mengedit data journal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{{host}}/journals/edit/112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200 / Success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1/0.0020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</a:tr>
              <a:tr h="398058">
                <a:tc>
                  <a:txBody>
                    <a:bodyPr/>
                    <a:lstStyle/>
                    <a:p>
                      <a:pPr marL="4572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PUT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Mengedit data journal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{{host}}/journals/edit/111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200 / Success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1/0.0015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</a:tr>
              <a:tr h="398058">
                <a:tc>
                  <a:txBody>
                    <a:bodyPr/>
                    <a:lstStyle/>
                    <a:p>
                      <a:pPr marL="4572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PUT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Mengedit data journal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{{host}}/journals/edit/66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200 / Success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1/0.0118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</a:tr>
              <a:tr h="240843">
                <a:tc gridSpan="4">
                  <a:txBody>
                    <a:bodyPr/>
                    <a:lstStyle/>
                    <a:p>
                      <a:pPr marL="457200"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Total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 dirty="0">
                          <a:effectLst/>
                        </a:rPr>
                        <a:t>211/0.0814</a:t>
                      </a:r>
                      <a:endParaRPr lang="id-ID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270" marR="31270" marT="32718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66963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Hasil Pengembangan (Android)</a:t>
            </a:r>
            <a:endParaRPr lang="id-ID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1241809"/>
              </p:ext>
            </p:extLst>
          </p:nvPr>
        </p:nvGraphicFramePr>
        <p:xfrm>
          <a:off x="785609" y="1413458"/>
          <a:ext cx="9543245" cy="51174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23495"/>
                <a:gridCol w="2566001"/>
                <a:gridCol w="2588223"/>
                <a:gridCol w="1645821"/>
                <a:gridCol w="1519705"/>
              </a:tblGrid>
              <a:tr h="696789"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Method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Name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URI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100" dirty="0">
                          <a:effectLst/>
                        </a:rPr>
                        <a:t>HTTP Code/Status</a:t>
                      </a:r>
                      <a:endParaRPr lang="id-ID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 dirty="0">
                          <a:effectLst/>
                        </a:rPr>
                        <a:t>Time</a:t>
                      </a:r>
                    </a:p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 dirty="0">
                          <a:effectLst/>
                        </a:rPr>
                        <a:t>(data/second)</a:t>
                      </a:r>
                      <a:endParaRPr lang="id-ID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  <a:tr h="370649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GET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Mengambil semua data journal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{{host}}/journals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200 / Success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100/0.0201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  <a:tr h="370649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GET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Mengambil semua data journal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{{host}}/journals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200 / Success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100/0.0211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  <a:tr h="370649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GET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Mengambil detail journal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{{host}}/detail/50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200 / Success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1/0.0192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  <a:tr h="370649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GET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Mencari data journal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{{host}}/search/univerisity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200 / Success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4/0.0148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  <a:tr h="479363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POST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Menginput data journal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{{host}}/journals/add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200 / Success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1/0.0139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  <a:tr h="479363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POST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Menginput data journal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{{host}}/journals/add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200 / Success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1/0.0265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  <a:tr h="479363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POST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Menginput data journal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{{host}}/journals/add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200 / Success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1/0.0257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  <a:tr h="370649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PUT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Mengedit data journal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{{host}}/journals/edit/112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200 / Success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1/0.0329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  <a:tr h="370649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PUT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Mengedit data journal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{{host}}/journals/edit/111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200 / Success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1/0.1095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  <a:tr h="370649">
                <a:tc>
                  <a:txBody>
                    <a:bodyPr/>
                    <a:lstStyle/>
                    <a:p>
                      <a:pPr marL="4572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PUT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Mengedit data journal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{{host}}/journals/edit/66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200 / Success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1/0.0272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  <a:tr h="283679">
                <a:tc gridSpan="4">
                  <a:txBody>
                    <a:bodyPr/>
                    <a:lstStyle/>
                    <a:p>
                      <a:pPr marL="457200"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effectLst/>
                        </a:rPr>
                        <a:t>Total</a:t>
                      </a:r>
                      <a:endParaRPr lang="id-ID" sz="1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1100" dirty="0">
                          <a:effectLst/>
                        </a:rPr>
                        <a:t>211/0.3109</a:t>
                      </a:r>
                      <a:endParaRPr lang="id-ID" sz="11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4" marR="35604" marT="37253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05903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Contoh Output Data</a:t>
            </a:r>
            <a:endParaRPr lang="id-ID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7855" y="1586100"/>
            <a:ext cx="9625407" cy="499500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361446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smtClean="0"/>
              <a:t>Hasil Pembahasan</a:t>
            </a:r>
            <a:endParaRPr lang="id-ID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7743812"/>
              </p:ext>
            </p:extLst>
          </p:nvPr>
        </p:nvGraphicFramePr>
        <p:xfrm>
          <a:off x="2971567" y="3275544"/>
          <a:ext cx="5725795" cy="196227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31290"/>
                <a:gridCol w="1431290"/>
                <a:gridCol w="1431290"/>
                <a:gridCol w="1431925"/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</a:rPr>
                        <a:t> </a:t>
                      </a:r>
                      <a:endParaRPr lang="id-ID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01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</a:rPr>
                        <a:t>GET</a:t>
                      </a:r>
                      <a:endParaRPr lang="id-ID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017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POST</a:t>
                      </a:r>
                      <a:endParaRPr lang="id-ID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017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PUT</a:t>
                      </a:r>
                      <a:endParaRPr lang="id-ID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0170" marB="0" anchor="ctr"/>
                </a:tc>
              </a:tr>
              <a:tr h="2159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Python</a:t>
                      </a:r>
                      <a:endParaRPr lang="id-ID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017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0.0067</a:t>
                      </a:r>
                      <a:endParaRPr lang="id-ID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01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0.0131</a:t>
                      </a:r>
                      <a:endParaRPr lang="id-ID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01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0.0051</a:t>
                      </a:r>
                      <a:endParaRPr lang="id-ID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0170" marB="0"/>
                </a:tc>
              </a:tr>
              <a:tr h="2159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PHP</a:t>
                      </a:r>
                      <a:endParaRPr lang="id-ID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017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0.0240</a:t>
                      </a:r>
                      <a:endParaRPr lang="id-ID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01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0.2285</a:t>
                      </a:r>
                      <a:endParaRPr lang="id-ID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01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</a:rPr>
                        <a:t>0.0831</a:t>
                      </a:r>
                      <a:endParaRPr lang="id-ID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0170" marB="0"/>
                </a:tc>
              </a:tr>
              <a:tr h="2159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Android</a:t>
                      </a:r>
                      <a:endParaRPr lang="id-ID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017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0.0188</a:t>
                      </a:r>
                      <a:endParaRPr lang="id-ID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01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2000">
                          <a:effectLst/>
                        </a:rPr>
                        <a:t>0.0220</a:t>
                      </a:r>
                      <a:endParaRPr lang="id-ID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01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id-ID" sz="2000" dirty="0">
                          <a:effectLst/>
                        </a:rPr>
                        <a:t>0.0565</a:t>
                      </a:r>
                      <a:endParaRPr lang="id-ID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0170" marB="0"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36620" y="1573043"/>
            <a:ext cx="10346028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  <a:spcAft>
                <a:spcPts val="800"/>
              </a:spcAft>
            </a:pPr>
            <a:r>
              <a:rPr lang="id-ID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Dengan menggunakan rumus kecepatan rata – rata waktu tempuh, maka didapatkan hasil yang dibutuhkan pada setiap client saat melakukan </a:t>
            </a:r>
            <a:r>
              <a:rPr lang="id-ID" i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request</a:t>
            </a:r>
            <a:r>
              <a:rPr lang="id-ID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hingga mendapatkan sebuah </a:t>
            </a:r>
            <a:r>
              <a:rPr lang="id-ID" i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response </a:t>
            </a:r>
            <a:r>
              <a:rPr lang="id-ID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dari </a:t>
            </a:r>
            <a:r>
              <a:rPr lang="id-ID" i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web services.</a:t>
            </a:r>
            <a:endParaRPr lang="id-ID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63448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Kesimpulan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d-ID" dirty="0"/>
              <a:t>Pendistribusian menggunakan metode ROA dapat berjalan dengan baik di setiap platform diantaranya adalah Python, PHP dan Android.</a:t>
            </a:r>
          </a:p>
          <a:p>
            <a:pPr lvl="0"/>
            <a:r>
              <a:rPr lang="id-ID" dirty="0"/>
              <a:t>Aplikasi yang tercepat diantara multiplatform lainnya yaitu multiplatform berbasis </a:t>
            </a:r>
            <a:r>
              <a:rPr lang="id-ID" i="1" dirty="0"/>
              <a:t>Python</a:t>
            </a:r>
            <a:r>
              <a:rPr lang="id-ID" dirty="0"/>
              <a:t> dengan nilai rata – rata 0.0067 (GET), 0.0131 (POST), 0.0051 (PUT</a:t>
            </a:r>
            <a:r>
              <a:rPr lang="id-ID" dirty="0" smtClean="0"/>
              <a:t>).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985550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Saran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d-ID" dirty="0"/>
              <a:t>Untuk mengakses web service ini diharapkan menggunakan metode </a:t>
            </a:r>
            <a:r>
              <a:rPr lang="id-ID" i="1" dirty="0"/>
              <a:t>Tokenize </a:t>
            </a:r>
            <a:r>
              <a:rPr lang="id-ID" dirty="0"/>
              <a:t>sehingga keamanan pada setiap </a:t>
            </a:r>
            <a:r>
              <a:rPr lang="id-ID" i="1" dirty="0"/>
              <a:t>resource </a:t>
            </a:r>
            <a:r>
              <a:rPr lang="id-ID" dirty="0"/>
              <a:t>dapat terjaga.</a:t>
            </a:r>
          </a:p>
          <a:p>
            <a:pPr lvl="0"/>
            <a:r>
              <a:rPr lang="id-ID" dirty="0"/>
              <a:t>Untuk pengumpulan data sebaiknya menggunakan data yang valid dari setiap perpustakaan universitas sehingga data tersebut dapat terjamin keasliannya</a:t>
            </a:r>
            <a:r>
              <a:rPr lang="id-ID" dirty="0" smtClean="0"/>
              <a:t>.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407179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7"/>
            <a:ext cx="10816086" cy="6141265"/>
          </a:xfrm>
        </p:spPr>
        <p:txBody>
          <a:bodyPr anchor="ctr"/>
          <a:lstStyle/>
          <a:p>
            <a:pPr algn="ctr"/>
            <a:r>
              <a:rPr lang="id-ID" dirty="0" smtClean="0"/>
              <a:t>Terima Kasih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842425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217</TotalTime>
  <Words>972</Words>
  <Application>Microsoft Office PowerPoint</Application>
  <PresentationFormat>Widescreen</PresentationFormat>
  <Paragraphs>269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Century Gothic</vt:lpstr>
      <vt:lpstr>Times New Roman</vt:lpstr>
      <vt:lpstr>Wingdings 3</vt:lpstr>
      <vt:lpstr>Ion</vt:lpstr>
      <vt:lpstr>Penerapan Resource Oriented Architecture Untuk Pendistribusian Data Menggunakan RESTful APIs Berbasis Multiplatform</vt:lpstr>
      <vt:lpstr>Latar Belakang</vt:lpstr>
      <vt:lpstr>Masalah</vt:lpstr>
      <vt:lpstr>Maksud dan Tujuan</vt:lpstr>
      <vt:lpstr>Guna dan Manfaat</vt:lpstr>
      <vt:lpstr>Ruang Linkup</vt:lpstr>
      <vt:lpstr>Kerangka Pemikiran</vt:lpstr>
      <vt:lpstr>Prosedur Pengembangan</vt:lpstr>
      <vt:lpstr>Uji Analisis Data</vt:lpstr>
      <vt:lpstr>Table Analisis data</vt:lpstr>
      <vt:lpstr>Pembahasan</vt:lpstr>
      <vt:lpstr>Pembahasan</vt:lpstr>
      <vt:lpstr>Pembahasan</vt:lpstr>
      <vt:lpstr>Hasil Pengembangan (PHP)</vt:lpstr>
      <vt:lpstr>Hasil Pengembangan (Python)</vt:lpstr>
      <vt:lpstr>Hasil Pengembangan (Android)</vt:lpstr>
      <vt:lpstr>Contoh Output Data</vt:lpstr>
      <vt:lpstr>Hasil Pembahasan</vt:lpstr>
      <vt:lpstr>Kesimpulan</vt:lpstr>
      <vt:lpstr>Saran</vt:lpstr>
      <vt:lpstr>Terima Kasih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Penerapan Resource Oriented Architecture Untuk Pendistribusian Data Menggunakan RESTful APIs Berbasis Multiplatform</dc:title>
  <dc:creator>Yanuar Nurcahyo</dc:creator>
  <cp:lastModifiedBy>Yanuar Nurcahyo</cp:lastModifiedBy>
  <cp:revision>10</cp:revision>
  <dcterms:created xsi:type="dcterms:W3CDTF">2016-11-26T05:25:56Z</dcterms:created>
  <dcterms:modified xsi:type="dcterms:W3CDTF">2016-11-26T09:03:04Z</dcterms:modified>
</cp:coreProperties>
</file>